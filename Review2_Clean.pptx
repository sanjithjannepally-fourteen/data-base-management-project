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2: Enhanced design and implementation" id="{1bd66637-26ff-5886-5857-e6870b4db84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2 builds on the Review 1 design: a richer schema, normalization, SQL implementation, reservation and billing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Review 1, then highlight that the schema grows from five to ten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entities are new in Review 2. FoodOrder is split into Orders and OrderItem. Orders sits at the centre and links reservation, waiter, bill and dishes.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unnormalized table and how each normal form removes redundancy.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representative tables. Constraints enforce integrity inside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Best-fit table: the smallest table that fits the party and has no overlapping reservation.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bill adds 5% GST and a 5% service charge to the subtotal of the dishes ordered.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rules live in the database, so every client gets the same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typical operational queries: free tables, today's bookings and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scenarios will be executed with seed data; results to be shown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final review: waiting list, inventory, security, concurrency, reports and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96012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Restaurant DBMS  |  Review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Database Management System – PBL  |  Review 2</a:t>
            </a:r>
            <a:endParaRPr lang="en-US" sz="1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1887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System for Restaurant Table Reservation and Food Service Management</a:t>
            </a:r>
            <a:endParaRPr lang="en-US" sz="4000" dirty="0"/>
          </a:p>
        </p:txBody>
      </p:sp>
      <p:sp>
        <p:nvSpPr>
          <p:cNvPr id="9" name="Icon circle"/>
          <p:cNvSpPr/>
          <p:nvPr/>
        </p:nvSpPr>
        <p:spPr>
          <a:xfrm>
            <a:off x="6949440" y="324612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Utensil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0" y="3634740"/>
            <a:ext cx="777240" cy="777240"/>
          </a:xfrm>
          <a:prstGeom prst="rect">
            <a:avLst/>
          </a:prstGeom>
        </p:spPr>
      </p:pic>
      <p:sp>
        <p:nvSpPr>
          <p:cNvPr id="11" name="Icon circle"/>
          <p:cNvSpPr/>
          <p:nvPr/>
        </p:nvSpPr>
        <p:spPr>
          <a:xfrm>
            <a:off x="6400800" y="4069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ConciergeBel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4240530"/>
            <a:ext cx="342900" cy="342900"/>
          </a:xfrm>
          <a:prstGeom prst="rect">
            <a:avLst/>
          </a:prstGeom>
        </p:spPr>
      </p:pic>
      <p:sp>
        <p:nvSpPr>
          <p:cNvPr id="14" name="Text 1"/>
          <p:cNvSpPr/>
          <p:nvPr>
            <p:ph idx="102" type="body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Recap: from Review 1 to Review 2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2004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Completed in Review 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1031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Problem statement and objectives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Five-table ER design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Reservation and order workflow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Basic bill total</a:t>
            </a:r>
            <a:endParaRPr lang="en-US" sz="1400" dirty="0"/>
          </a:p>
        </p:txBody>
      </p:sp>
      <p:sp>
        <p:nvSpPr>
          <p:cNvPr id="7" name="Stat callout"/>
          <p:cNvSpPr/>
          <p:nvPr/>
        </p:nvSpPr>
        <p:spPr>
          <a:xfrm>
            <a:off x="3840480" y="2148840"/>
            <a:ext cx="1463040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84048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 → 10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tables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0" y="1280160"/>
            <a:ext cx="32004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150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New in Review 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1031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Menu categories, waiters, bills, payments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Normalization to 3NF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Slot-based reservation and billing logic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Procedures, triggers and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Enhanced ER diagram</a:t>
            </a:r>
            <a:endParaRPr lang="en-US" sz="3000" dirty="0"/>
          </a:p>
        </p:txBody>
      </p:sp>
      <p:sp>
        <p:nvSpPr>
          <p:cNvPr id="4" name="Entity Customer"/>
          <p:cNvSpPr/>
          <p:nvPr/>
        </p:nvSpPr>
        <p:spPr>
          <a:xfrm>
            <a:off x="457200" y="1005840"/>
            <a:ext cx="17830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" name="Entity header Customer"/>
          <p:cNvSpPr/>
          <p:nvPr/>
        </p:nvSpPr>
        <p:spPr>
          <a:xfrm>
            <a:off x="457200" y="1005840"/>
            <a:ext cx="1783080" cy="23774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00584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Customer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289304"/>
            <a:ext cx="1563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customer_id (PK)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full_name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phone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email</a:t>
            </a:r>
            <a:endParaRPr lang="en-US" sz="1000" dirty="0"/>
          </a:p>
        </p:txBody>
      </p:sp>
      <p:sp>
        <p:nvSpPr>
          <p:cNvPr id="8" name="Entity Reservation"/>
          <p:cNvSpPr/>
          <p:nvPr/>
        </p:nvSpPr>
        <p:spPr>
          <a:xfrm>
            <a:off x="457200" y="2340864"/>
            <a:ext cx="17830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Entity header Reservation"/>
          <p:cNvSpPr/>
          <p:nvPr/>
        </p:nvSpPr>
        <p:spPr>
          <a:xfrm>
            <a:off x="457200" y="2340864"/>
            <a:ext cx="1783080" cy="23774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234086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Reservation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624328"/>
            <a:ext cx="1563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reservation_id (PK)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customer_id (FK)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table_id (FK)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slot_start</a:t>
            </a:r>
            <a:endParaRPr lang="en-US" sz="1000" dirty="0"/>
          </a:p>
        </p:txBody>
      </p:sp>
      <p:sp>
        <p:nvSpPr>
          <p:cNvPr id="12" name="Entity DiningTable"/>
          <p:cNvSpPr/>
          <p:nvPr/>
        </p:nvSpPr>
        <p:spPr>
          <a:xfrm>
            <a:off x="457200" y="3675888"/>
            <a:ext cx="17830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3" name="Entity header DiningTable"/>
          <p:cNvSpPr/>
          <p:nvPr/>
        </p:nvSpPr>
        <p:spPr>
          <a:xfrm>
            <a:off x="457200" y="3675888"/>
            <a:ext cx="1783080" cy="23774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6758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DiningTable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3959352"/>
            <a:ext cx="1563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table_id (PK)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table_no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capacity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status</a:t>
            </a:r>
            <a:endParaRPr lang="en-US" sz="1000" dirty="0"/>
          </a:p>
        </p:txBody>
      </p:sp>
      <p:sp>
        <p:nvSpPr>
          <p:cNvPr id="16" name="Entity Staff"/>
          <p:cNvSpPr/>
          <p:nvPr/>
        </p:nvSpPr>
        <p:spPr>
          <a:xfrm>
            <a:off x="2606040" y="1005840"/>
            <a:ext cx="17830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Entity header Staff"/>
          <p:cNvSpPr/>
          <p:nvPr/>
        </p:nvSpPr>
        <p:spPr>
          <a:xfrm>
            <a:off x="2606040" y="1005840"/>
            <a:ext cx="1783080" cy="2377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606040" y="100584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Staff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715768" y="1289304"/>
            <a:ext cx="1563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staff_id (PK)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full_name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role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shift</a:t>
            </a:r>
            <a:endParaRPr lang="en-US" sz="1000" dirty="0"/>
          </a:p>
        </p:txBody>
      </p:sp>
      <p:sp>
        <p:nvSpPr>
          <p:cNvPr id="20" name="Entity Orders"/>
          <p:cNvSpPr/>
          <p:nvPr/>
        </p:nvSpPr>
        <p:spPr>
          <a:xfrm>
            <a:off x="2606040" y="2340864"/>
            <a:ext cx="17830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Entity header Orders"/>
          <p:cNvSpPr/>
          <p:nvPr/>
        </p:nvSpPr>
        <p:spPr>
          <a:xfrm>
            <a:off x="2606040" y="2340864"/>
            <a:ext cx="1783080" cy="2377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606040" y="234086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Orders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715768" y="2624328"/>
            <a:ext cx="1563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order_id (PK)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reservation_id (FK)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staff_id (FK)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status</a:t>
            </a:r>
            <a:endParaRPr lang="en-US" sz="1000" dirty="0"/>
          </a:p>
        </p:txBody>
      </p:sp>
      <p:sp>
        <p:nvSpPr>
          <p:cNvPr id="24" name="Entity Bill"/>
          <p:cNvSpPr/>
          <p:nvPr/>
        </p:nvSpPr>
        <p:spPr>
          <a:xfrm>
            <a:off x="2606040" y="3675888"/>
            <a:ext cx="17830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Entity header Bill"/>
          <p:cNvSpPr/>
          <p:nvPr/>
        </p:nvSpPr>
        <p:spPr>
          <a:xfrm>
            <a:off x="2606040" y="3675888"/>
            <a:ext cx="1783080" cy="2377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606040" y="36758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Bill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2715768" y="3959352"/>
            <a:ext cx="1563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bill_id (PK)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order_id (FK)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subtotal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total</a:t>
            </a:r>
            <a:endParaRPr lang="en-US" sz="1000" dirty="0"/>
          </a:p>
        </p:txBody>
      </p:sp>
      <p:sp>
        <p:nvSpPr>
          <p:cNvPr id="28" name="Entity OrderItem"/>
          <p:cNvSpPr/>
          <p:nvPr/>
        </p:nvSpPr>
        <p:spPr>
          <a:xfrm>
            <a:off x="4754880" y="2340864"/>
            <a:ext cx="17830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9" name="Entity header OrderItem"/>
          <p:cNvSpPr/>
          <p:nvPr/>
        </p:nvSpPr>
        <p:spPr>
          <a:xfrm>
            <a:off x="4754880" y="2340864"/>
            <a:ext cx="1783080" cy="2377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754880" y="234086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OrderItem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864608" y="2624328"/>
            <a:ext cx="1563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order_item_id (PK)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order_id (FK)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item_id (FK)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quantity</a:t>
            </a:r>
            <a:endParaRPr lang="en-US" sz="1000" dirty="0"/>
          </a:p>
        </p:txBody>
      </p:sp>
      <p:sp>
        <p:nvSpPr>
          <p:cNvPr id="32" name="Entity Payment"/>
          <p:cNvSpPr/>
          <p:nvPr/>
        </p:nvSpPr>
        <p:spPr>
          <a:xfrm>
            <a:off x="4754880" y="3675888"/>
            <a:ext cx="17830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3" name="Entity header Payment"/>
          <p:cNvSpPr/>
          <p:nvPr/>
        </p:nvSpPr>
        <p:spPr>
          <a:xfrm>
            <a:off x="4754880" y="3675888"/>
            <a:ext cx="1783080" cy="2377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754880" y="36758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Payment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864608" y="3959352"/>
            <a:ext cx="1563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payment_id (PK)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bill_id (FK)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amount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pay_mode</a:t>
            </a:r>
            <a:endParaRPr lang="en-US" sz="1000" dirty="0"/>
          </a:p>
        </p:txBody>
      </p:sp>
      <p:sp>
        <p:nvSpPr>
          <p:cNvPr id="36" name="Entity MenuCategory"/>
          <p:cNvSpPr/>
          <p:nvPr/>
        </p:nvSpPr>
        <p:spPr>
          <a:xfrm>
            <a:off x="6903720" y="1005840"/>
            <a:ext cx="17830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7" name="Entity header MenuCategory"/>
          <p:cNvSpPr/>
          <p:nvPr/>
        </p:nvSpPr>
        <p:spPr>
          <a:xfrm>
            <a:off x="6903720" y="1005840"/>
            <a:ext cx="1783080" cy="2377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903720" y="100584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MenuCategory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013448" y="1289304"/>
            <a:ext cx="1563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category_id (PK)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category_name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display_order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is_active</a:t>
            </a:r>
            <a:endParaRPr lang="en-US" sz="1000" dirty="0"/>
          </a:p>
        </p:txBody>
      </p:sp>
      <p:sp>
        <p:nvSpPr>
          <p:cNvPr id="40" name="Entity MenuItem"/>
          <p:cNvSpPr/>
          <p:nvPr/>
        </p:nvSpPr>
        <p:spPr>
          <a:xfrm>
            <a:off x="6903720" y="2340864"/>
            <a:ext cx="17830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1" name="Entity header MenuItem"/>
          <p:cNvSpPr/>
          <p:nvPr/>
        </p:nvSpPr>
        <p:spPr>
          <a:xfrm>
            <a:off x="6903720" y="2340864"/>
            <a:ext cx="1783080" cy="23774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903720" y="234086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MenuItem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7013448" y="2624328"/>
            <a:ext cx="1563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1000" b="1" dirty="0">
                <a:solidFill>
                  <a:schemeClr val="tx1"/>
                </a:solidFill>
              </a:rPr>
              <a:t>item_id (PK)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category_id (FK)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item_name</a:t>
            </a:r>
            <a:endParaRPr lang="en-US" sz="10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1000" dirty="0">
                <a:solidFill>
                  <a:schemeClr val="tx1"/>
                </a:solidFill>
              </a:rPr>
              <a:t>price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348740" y="2011680"/>
            <a:ext cx="0" cy="32918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394460" y="1993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1394460" y="21579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348740" y="3346704"/>
            <a:ext cx="0" cy="32918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394460" y="33284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394460" y="34930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240280" y="2843784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267712" y="26426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2459736" y="26426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3497580" y="2011680"/>
            <a:ext cx="0" cy="32918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543300" y="1993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3543300" y="21579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497580" y="3346704"/>
            <a:ext cx="0" cy="32918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543300" y="33284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3543300" y="34930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4389120" y="2843784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416552" y="26426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599432" y="26426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6537960" y="2843784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565392" y="26426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6748272" y="26426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7795260" y="2011680"/>
            <a:ext cx="0" cy="32918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840980" y="1993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7840980" y="21579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4389120" y="4178808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4416552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4599432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71" name="Card"/>
          <p:cNvSpPr/>
          <p:nvPr/>
        </p:nvSpPr>
        <p:spPr>
          <a:xfrm>
            <a:off x="4754880" y="1005840"/>
            <a:ext cx="17830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72" name="Legend brown"/>
          <p:cNvSpPr/>
          <p:nvPr/>
        </p:nvSpPr>
        <p:spPr>
          <a:xfrm>
            <a:off x="4892040" y="1143000"/>
            <a:ext cx="201168" cy="1463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5184648" y="11155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From Review 1</a:t>
            </a:r>
            <a:endParaRPr lang="en-US" sz="1100" dirty="0"/>
          </a:p>
        </p:txBody>
      </p:sp>
      <p:sp>
        <p:nvSpPr>
          <p:cNvPr id="74" name="Legend amber"/>
          <p:cNvSpPr/>
          <p:nvPr/>
        </p:nvSpPr>
        <p:spPr>
          <a:xfrm>
            <a:off x="4892040" y="1399032"/>
            <a:ext cx="201168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5184648" y="1371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New in Review 2</a:t>
            </a:r>
            <a:endParaRPr lang="en-US" sz="1100" dirty="0"/>
          </a:p>
        </p:txBody>
      </p:sp>
      <p:sp>
        <p:nvSpPr>
          <p:cNvPr id="76" name="Text 73"/>
          <p:cNvSpPr txBox="1"/>
          <p:nvPr/>
        </p:nvSpPr>
        <p:spPr>
          <a:xfrm>
            <a:off x="489204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Bill has one Payment per bill.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Normalization to 3NF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5661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Before: one wide table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order_id, customer_name,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phone, table_no, capacity,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waiter, item_name, category,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price, quantity, tax, total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Customer, table and dish details repeat on every row, causing update anomalies.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280160"/>
            <a:ext cx="43891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9" name="NF badge"/>
          <p:cNvSpPr/>
          <p:nvPr/>
        </p:nvSpPr>
        <p:spPr>
          <a:xfrm>
            <a:off x="4480560" y="1527048"/>
            <a:ext cx="8229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0560" y="1527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1NF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12801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Atomic values only; one row per dish ordered (OrderItem)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297680" y="2377440"/>
            <a:ext cx="43891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3" name="NF badge"/>
          <p:cNvSpPr/>
          <p:nvPr/>
        </p:nvSpPr>
        <p:spPr>
          <a:xfrm>
            <a:off x="4480560" y="2624328"/>
            <a:ext cx="8229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80560" y="26243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2NF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23774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Dish, table and customer details moved to their own tables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297680" y="3474720"/>
            <a:ext cx="43891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7" name="NF badge"/>
          <p:cNvSpPr/>
          <p:nvPr/>
        </p:nvSpPr>
        <p:spPr>
          <a:xfrm>
            <a:off x="4480560" y="3721608"/>
            <a:ext cx="8229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80560" y="37216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3NF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532120" y="34747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Category and waiter details moved to MenuCategory and Staff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Schema implementation in SQL</a:t>
            </a:r>
            <a:endParaRPr lang="en-US" sz="3000" dirty="0"/>
          </a:p>
        </p:txBody>
      </p:sp>
      <p:sp>
        <p:nvSpPr>
          <p:cNvPr id="4" name="Code card"/>
          <p:cNvSpPr/>
          <p:nvPr/>
        </p:nvSpPr>
        <p:spPr>
          <a:xfrm>
            <a:off x="457200" y="1188720"/>
            <a:ext cx="5394960" cy="34290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5029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Reservation (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reservation_id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customer_id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table_id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slot_start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slot_end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party_size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'BOOKED'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'SEATED'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'DONE'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'CANCELLED'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(slot_end &gt; slot_start)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OrderItem (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order_item_id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order_id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item_id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quantity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TINYINT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(quantity &gt; 0),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unit_price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(8,2)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(order_id, item_id)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6" name="Card"/>
          <p:cNvSpPr/>
          <p:nvPr/>
        </p:nvSpPr>
        <p:spPr>
          <a:xfrm>
            <a:off x="6126480" y="1188720"/>
            <a:ext cx="2560320" cy="34290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30936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Integrity built 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87452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PRIMARY KEY on every table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blocks bad slots and quantities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UNIQUE (order, item) stops duplicate lines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FOREIGN KEYs keep links valid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Smart table allocation</a:t>
            </a:r>
            <a:endParaRPr lang="en-US" sz="3000" dirty="0"/>
          </a:p>
        </p:txBody>
      </p:sp>
      <p:sp>
        <p:nvSpPr>
          <p:cNvPr id="4" name="Number badge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234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party size and requested slot</a:t>
            </a:r>
            <a:endParaRPr lang="en-US" sz="1400" dirty="0"/>
          </a:p>
        </p:txBody>
      </p:sp>
      <p:sp>
        <p:nvSpPr>
          <p:cNvPr id="7" name="Number badge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tables with capacity ≥ party size</a:t>
            </a:r>
            <a:endParaRPr lang="en-US" sz="1400" dirty="0"/>
          </a:p>
        </p:txBody>
      </p:sp>
      <p:sp>
        <p:nvSpPr>
          <p:cNvPr id="10" name="Number badge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Exclude tables with an overlapping reservation</a:t>
            </a:r>
            <a:endParaRPr lang="en-US" sz="1400" dirty="0"/>
          </a:p>
        </p:txBody>
      </p:sp>
      <p:sp>
        <p:nvSpPr>
          <p:cNvPr id="13" name="Number badge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566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the smallest fitting table</a:t>
            </a:r>
            <a:endParaRPr lang="en-US" sz="1400" dirty="0"/>
          </a:p>
        </p:txBody>
      </p:sp>
      <p:sp>
        <p:nvSpPr>
          <p:cNvPr id="16" name="Code card"/>
          <p:cNvSpPr/>
          <p:nvPr/>
        </p:nvSpPr>
        <p:spPr>
          <a:xfrm>
            <a:off x="4206240" y="1234440"/>
            <a:ext cx="4480560" cy="2697480"/>
          </a:xfrm>
          <a:prstGeom prst="roundRect">
            <a:avLst>
              <a:gd name="adj" fmla="val 3390"/>
            </a:avLst>
          </a:prstGeom>
          <a:solidFill>
            <a:schemeClr val="tx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389120" y="1371600"/>
            <a:ext cx="4114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t.table_id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DiningTable t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t.capacity &gt;= 4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EXISTS (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Reservation r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r.table_id = t.table_id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r.status IN (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'BOOKED'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'SEATED'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r.slot_start &lt;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'2026-11-05 21:00'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r.slot_end &gt;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'2026-11-05 19:30'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t.capacity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1;</a:t>
            </a:r>
            <a:endParaRPr lang="en-US" sz="1050" dirty="0"/>
          </a:p>
        </p:txBody>
      </p:sp>
      <p:sp>
        <p:nvSpPr>
          <p:cNvPr id="18" name="Card"/>
          <p:cNvSpPr/>
          <p:nvPr/>
        </p:nvSpPr>
        <p:spPr>
          <a:xfrm>
            <a:off x="4206240" y="4023360"/>
            <a:ext cx="44805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8912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If no row is returned, the procedure replies NO TABLE FREE.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Billing engine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4206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463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Subtotal = SUM(quantity × unit_price)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1945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Total = Subtotal + 5% GST + 5% service</a:t>
            </a:r>
            <a:endParaRPr lang="en-US" sz="1500" dirty="0"/>
          </a:p>
        </p:txBody>
      </p:sp>
      <p:sp>
        <p:nvSpPr>
          <p:cNvPr id="7" name="Worked example"/>
          <p:cNvSpPr/>
          <p:nvPr/>
        </p:nvSpPr>
        <p:spPr>
          <a:xfrm>
            <a:off x="457200" y="3200400"/>
            <a:ext cx="4206240" cy="128016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Worked example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6393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 × Paneer Tikka (₹220) + 1 × Veg Biryani (₹320): subtotal ₹760, GST ₹38, service ₹38, total ₹836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Sample menu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37360"/>
          <a:ext cx="3749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Dish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Paneer Tikka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Starter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₹220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Veg Biryani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Main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₹320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Mango Lassi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Beverage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₹90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Gulab Jamun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Dessert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₹80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93776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Dishes and prices are sample values stored in MenuItem; the tax rates can be changed without code changes.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Procedures, functions and triggers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og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PROCEDURE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sp_reserve_table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Finds the best-fit free table and saves the reservation.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Cog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5316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06908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PROCEDURE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sp_place_order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47472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Creates the order and its dish rows for a table.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12648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Cog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53162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372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PROCEDURE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63093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sp_generate_bill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30936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Totals the order and adds GST and service charge.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45720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3" name="Icon circle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Calculato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17754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344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FUNCTION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fn_bill_total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Applies tax and service charge to a subtotal.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9" name="Icon circle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4" descr="Bo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0690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TRIGGER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34747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trg_order_after_insert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347472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Sets the table status to OCCUPIED.</a:t>
            </a:r>
            <a:endParaRPr lang="en-US" sz="1200" dirty="0"/>
          </a:p>
        </p:txBody>
      </p:sp>
      <p:sp>
        <p:nvSpPr>
          <p:cNvPr id="34" name="Card"/>
          <p:cNvSpPr/>
          <p:nvPr/>
        </p:nvSpPr>
        <p:spPr>
          <a:xfrm>
            <a:off x="612648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35" name="Icon circle"/>
          <p:cNvSpPr/>
          <p:nvPr/>
        </p:nvSpPr>
        <p:spPr>
          <a:xfrm>
            <a:off x="630936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5" descr="Bol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177540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90372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TRIGGER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630936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trg_payment_after_insert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630936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Marks the bill PAID and frees the table.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Sample queries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Free tables for a party</a:t>
            </a:r>
            <a:endParaRPr lang="en-US" sz="1500" dirty="0"/>
          </a:p>
        </p:txBody>
      </p:sp>
      <p:sp>
        <p:nvSpPr>
          <p:cNvPr id="6" name="Code card"/>
          <p:cNvSpPr/>
          <p:nvPr/>
        </p:nvSpPr>
        <p:spPr>
          <a:xfrm>
            <a:off x="2834640" y="1234440"/>
            <a:ext cx="5852160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017520" y="1371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table_no, capacity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DiningTable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 =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'AVAILABLE'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capacity &gt;= 4;</a:t>
            </a:r>
            <a:endParaRPr lang="en-US" sz="1050" dirty="0"/>
          </a:p>
        </p:txBody>
      </p:sp>
      <p:sp>
        <p:nvSpPr>
          <p:cNvPr id="8" name="Card"/>
          <p:cNvSpPr/>
          <p:nvPr/>
        </p:nvSpPr>
        <p:spPr>
          <a:xfrm>
            <a:off x="457200" y="237744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377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Today's reservations</a:t>
            </a:r>
            <a:endParaRPr lang="en-US" sz="1500" dirty="0"/>
          </a:p>
        </p:txBody>
      </p:sp>
      <p:sp>
        <p:nvSpPr>
          <p:cNvPr id="10" name="Code card"/>
          <p:cNvSpPr/>
          <p:nvPr/>
        </p:nvSpPr>
        <p:spPr>
          <a:xfrm>
            <a:off x="2834640" y="2377440"/>
            <a:ext cx="5852160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017520" y="2514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r.reservation_id, c.full_name, r.slot_start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Reservation r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 c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(customer_id)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(r.slot_start) = CURDATE();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457200" y="352044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520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Revenue per day</a:t>
            </a:r>
            <a:endParaRPr lang="en-US" sz="1500" dirty="0"/>
          </a:p>
        </p:txBody>
      </p:sp>
      <p:sp>
        <p:nvSpPr>
          <p:cNvPr id="14" name="Code card"/>
          <p:cNvSpPr/>
          <p:nvPr/>
        </p:nvSpPr>
        <p:spPr>
          <a:xfrm>
            <a:off x="2834640" y="3520440"/>
            <a:ext cx="5852160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017520" y="3657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(paid_at)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day,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(amount)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revenue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Payment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(paid_at);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 cases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Reserve a table for a party of 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Smallest table with capacity ≥ 4 assigned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Overlapping slot on the same table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Another table chosen, or NO TABLE FREE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No table fits the party size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Returns NO TABLE FREE; nothing saved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Order with three dishes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One order and three OrderItem rows created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Generate the bill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Total includes GST and service charge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Payment saved for a bill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Bill is PAID; table becomes AVAILABLE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Next steps for Review 3</a:t>
            </a:r>
            <a:endParaRPr lang="en-US" sz="3000" dirty="0"/>
          </a:p>
        </p:txBody>
      </p:sp>
      <p:sp>
        <p:nvSpPr>
          <p:cNvPr id="4" name="Icon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ListO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17320" y="1371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Waiting list, coupons and discounts</a:t>
            </a:r>
            <a:endParaRPr lang="en-US" sz="1800" dirty="0"/>
          </a:p>
        </p:txBody>
      </p:sp>
      <p:sp>
        <p:nvSpPr>
          <p:cNvPr id="7" name="Icon circle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Box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17320" y="2148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Inventory deduction and kitchen status flow</a:t>
            </a:r>
            <a:endParaRPr lang="en-US" sz="1800" dirty="0"/>
          </a:p>
        </p:txBody>
      </p:sp>
      <p:sp>
        <p:nvSpPr>
          <p:cNvPr id="10" name="Icon circle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UserShiel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417320" y="2926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Feedback, roles and audit log</a:t>
            </a:r>
            <a:endParaRPr lang="en-US" sz="1800" dirty="0"/>
          </a:p>
        </p:txBody>
      </p:sp>
      <p:sp>
        <p:nvSpPr>
          <p:cNvPr id="13" name="Icon circle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3" descr="Lo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4048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417320" y="3703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Concurrency control, indexes and reports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Slate">
  <a:themeElements>
    <a:clrScheme name="Clean Slate">
      <a:dk1>
        <a:srgbClr val="1E293B"/>
      </a:dk1>
      <a:lt1>
        <a:srgbClr val="FFFFFF"/>
      </a:lt1>
      <a:dk2>
        <a:srgbClr val="0F2A43"/>
      </a:dk2>
      <a:lt2>
        <a:srgbClr val="F1F5F9"/>
      </a:lt2>
      <a:accent1>
        <a:srgbClr val="4FB3A9"/>
      </a:accent1>
      <a:accent2>
        <a:srgbClr val="2E8B6A"/>
      </a:accent2>
      <a:accent3>
        <a:srgbClr val="1E3A5F"/>
      </a:accent3>
      <a:accent4>
        <a:srgbClr val="C2410C"/>
      </a:accent4>
      <a:accent5>
        <a:srgbClr val="64748B"/>
      </a:accent5>
      <a:accent6>
        <a:srgbClr val="94A3B8"/>
      </a:accent6>
      <a:hlink>
        <a:srgbClr val="1E3A5F"/>
      </a:hlink>
      <a:folHlink>
        <a:srgbClr val="64748B"/>
      </a:folHlink>
    </a:clrScheme>
    <a:fontScheme name="Clean Sla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DBMS - Review 2</dc:title>
  <dc:subject>PptxGenJS Presentation</dc:subject>
  <dc:creator>PptxGenJS</dc:creator>
  <cp:lastModifiedBy>PptxGenJS</cp:lastModifiedBy>
  <cp:revision>1</cp:revision>
  <dcterms:created xsi:type="dcterms:W3CDTF">2026-10-14T21:32:29Z</dcterms:created>
  <dcterms:modified xsi:type="dcterms:W3CDTF">2026-10-14T21:32:29Z</dcterms:modified>
</cp:coreProperties>
</file>