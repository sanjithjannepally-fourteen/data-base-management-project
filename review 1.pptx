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1: Problem definition and design" id="{79879F0F-C1FF-A926-08A7-C18E7A49F53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647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topic, the team and the guide. Review 1 covers the problem, requirements and the first database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everyday problems of a manual restaurant, then link them to the need for stored, structured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problem statement, then walk through the four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manual process on the left with what the database-driven system provides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1 is the foundation. Reviews 2 and 3 add logic, kitchen flow, inventory, security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functions the system must support in Review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entities. A customer makes many reservations, a table can be reserved many times, and a reservation can have many ordered dishes.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Mapping of the ER diagram to five relations with primary and foreign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 to 4 cover the reservation and steps 5 to 8 cover ordering and billing. Steps 2 to 8 are the database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Technology choices; MySQL can be replaced by PostgreSQL without changing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is done and preview Review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96012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1148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Restaurant DBMS  |  Review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Database Management System – PBL  |  Review 1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1887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System for Restaurant Table Reservation and Food Service Management</a:t>
            </a:r>
            <a:endParaRPr lang="en-US" sz="4000" dirty="0"/>
          </a:p>
        </p:txBody>
      </p:sp>
      <p:sp>
        <p:nvSpPr>
          <p:cNvPr id="9" name="Icon circle"/>
          <p:cNvSpPr/>
          <p:nvPr/>
        </p:nvSpPr>
        <p:spPr>
          <a:xfrm>
            <a:off x="6949440" y="324612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Utensil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3634740"/>
            <a:ext cx="777240" cy="777240"/>
          </a:xfrm>
          <a:prstGeom prst="rect">
            <a:avLst/>
          </a:prstGeom>
        </p:spPr>
      </p:pic>
      <p:sp>
        <p:nvSpPr>
          <p:cNvPr id="11" name="Icon circle"/>
          <p:cNvSpPr/>
          <p:nvPr/>
        </p:nvSpPr>
        <p:spPr>
          <a:xfrm>
            <a:off x="6400800" y="4069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ConciergeBell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4240530"/>
            <a:ext cx="342900" cy="342900"/>
          </a:xfrm>
          <a:prstGeom prst="rect">
            <a:avLst/>
          </a:prstGeom>
        </p:spPr>
      </p:pic>
      <p:sp>
        <p:nvSpPr>
          <p:cNvPr id="1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Why a restaurant needs a database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508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hone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68021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Notebook bookings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743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Reservations written in a register lead to clashes and unnoticed no-shows.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29184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3520440" y="1508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ClipboardLis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890" y="168021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Order mix-ups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520440" y="2743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Handwritten slips get lost or misread between waiter and kitchen.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12648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355080" y="1508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ChartLin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530" y="168021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5508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sales data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355080" y="2743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Without stored records, owners cannot see popular dishes or busy hours.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 DBMS gives one reliable source of truth for tables, reservations, orders and bills.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 and objectives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84048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lipboardLis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6687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508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3774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Restaurants that rely on notebooks and phone calls double-book tables, mix up orders and miscalculate bills. This project designs and implements a relational database that automates table reservation, order taking and billing.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10" name="Number badge"/>
          <p:cNvSpPr/>
          <p:nvPr/>
        </p:nvSpPr>
        <p:spPr>
          <a:xfrm>
            <a:off x="4572000" y="18470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57200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166360" y="17830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Model tables, menu and orders with an ER design</a:t>
            </a:r>
            <a:endParaRPr lang="en-US" sz="1400" dirty="0"/>
          </a:p>
        </p:txBody>
      </p:sp>
      <p:sp>
        <p:nvSpPr>
          <p:cNvPr id="13" name="Number badge"/>
          <p:cNvSpPr/>
          <p:nvPr/>
        </p:nvSpPr>
        <p:spPr>
          <a:xfrm>
            <a:off x="4572000" y="25328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7200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166360" y="24688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Store customer, reservation and order data</a:t>
            </a:r>
            <a:endParaRPr lang="en-US" sz="1400" dirty="0"/>
          </a:p>
        </p:txBody>
      </p:sp>
      <p:sp>
        <p:nvSpPr>
          <p:cNvPr id="16" name="Number badge"/>
          <p:cNvSpPr/>
          <p:nvPr/>
        </p:nvSpPr>
        <p:spPr>
          <a:xfrm>
            <a:off x="4572000" y="32186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57200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166360" y="31546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Reserve a free table for a date and time</a:t>
            </a:r>
            <a:endParaRPr lang="en-US" sz="1400" dirty="0"/>
          </a:p>
        </p:txBody>
      </p:sp>
      <p:sp>
        <p:nvSpPr>
          <p:cNvPr id="19" name="Number badge"/>
          <p:cNvSpPr/>
          <p:nvPr/>
        </p:nvSpPr>
        <p:spPr>
          <a:xfrm>
            <a:off x="4572000" y="39044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572000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166360" y="3840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Compute the bill from the dishes ordered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Existing system vs proposed system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93192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TimesCirc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18488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481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Manual / existing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2860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Bookings noted in a register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Table status tracked by sight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Orders written on paper slips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Bills added up by hand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983480" y="148132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CheckCirc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1848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0" y="1481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Proposed DBMS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029200" y="22860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Reservations stored with date and time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Table status stored and updated live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Orders saved as rows with quantity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Bill computed from stored prices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Scope and review roadmap</a:t>
            </a:r>
            <a:endParaRPr lang="en-US" sz="3000" dirty="0"/>
          </a:p>
        </p:txBody>
      </p:sp>
      <p:sp>
        <p:nvSpPr>
          <p:cNvPr id="4" name="Roadmap header"/>
          <p:cNvSpPr/>
          <p:nvPr/>
        </p:nvSpPr>
        <p:spPr>
          <a:xfrm>
            <a:off x="45720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1  ·  now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96596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214884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 and table master data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Reservation with availability check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Menu and order recording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Basic bill total</a:t>
            </a:r>
            <a:endParaRPr lang="en-US" sz="1400" dirty="0"/>
          </a:p>
        </p:txBody>
      </p:sp>
      <p:sp>
        <p:nvSpPr>
          <p:cNvPr id="8" name="Roadmap header"/>
          <p:cNvSpPr/>
          <p:nvPr/>
        </p:nvSpPr>
        <p:spPr>
          <a:xfrm>
            <a:off x="329184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29184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 2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3291840" y="196596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20440" y="214884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 slots without overlaps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Orders, waiters and billing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Tax, service charge, payments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Procedures, triggers, tests</a:t>
            </a:r>
            <a:endParaRPr lang="en-US" sz="1400" dirty="0"/>
          </a:p>
        </p:txBody>
      </p:sp>
      <p:sp>
        <p:nvSpPr>
          <p:cNvPr id="12" name="Roadmap header"/>
          <p:cNvSpPr/>
          <p:nvPr/>
        </p:nvSpPr>
        <p:spPr>
          <a:xfrm>
            <a:off x="612648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 3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6126480" y="196596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55080" y="214884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Waiting list and coupons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Inventory and kitchen flow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Feedback, roles, audit log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Concurrency control,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Functional requirements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hai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8516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Table management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Maintain tables with capacity and live status.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892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CalendarChe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8516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607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Table reservation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76072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Book a free table for a date, time and party size.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85800" y="3337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Utensil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4975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Menu and orders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55448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Record the dishes ordered with quantities.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FileInvoiceDolla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4975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6072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Billing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76072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Compute the bill total from the ordered dishes.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Conceptual design: ER diagram</a:t>
            </a:r>
            <a:endParaRPr lang="en-US" sz="3000" dirty="0"/>
          </a:p>
        </p:txBody>
      </p:sp>
      <p:sp>
        <p:nvSpPr>
          <p:cNvPr id="4" name="Entity Customer"/>
          <p:cNvSpPr/>
          <p:nvPr/>
        </p:nvSpPr>
        <p:spPr>
          <a:xfrm>
            <a:off x="457200" y="1234440"/>
            <a:ext cx="2194560" cy="11704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" name="Entity header Customer"/>
          <p:cNvSpPr/>
          <p:nvPr/>
        </p:nvSpPr>
        <p:spPr>
          <a:xfrm>
            <a:off x="457200" y="1234440"/>
            <a:ext cx="2194560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Customer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554480"/>
            <a:ext cx="1975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customer_id (PK)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full_name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phone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email</a:t>
            </a:r>
            <a:endParaRPr lang="en-US" sz="1100" dirty="0"/>
          </a:p>
        </p:txBody>
      </p:sp>
      <p:sp>
        <p:nvSpPr>
          <p:cNvPr id="8" name="Entity Reservation"/>
          <p:cNvSpPr/>
          <p:nvPr/>
        </p:nvSpPr>
        <p:spPr>
          <a:xfrm>
            <a:off x="3474720" y="1234440"/>
            <a:ext cx="2194560" cy="177393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Entity header Reservation"/>
          <p:cNvSpPr/>
          <p:nvPr/>
        </p:nvSpPr>
        <p:spPr>
          <a:xfrm>
            <a:off x="3474720" y="1234440"/>
            <a:ext cx="2194560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7472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Reservation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584448" y="1554480"/>
            <a:ext cx="19751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reservation_id (PK)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customer_id (FK)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table_id (FK)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reserve_date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reserve_time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party_size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status</a:t>
            </a:r>
            <a:endParaRPr lang="en-US" sz="1100" dirty="0"/>
          </a:p>
        </p:txBody>
      </p:sp>
      <p:sp>
        <p:nvSpPr>
          <p:cNvPr id="12" name="Entity DiningTable"/>
          <p:cNvSpPr/>
          <p:nvPr/>
        </p:nvSpPr>
        <p:spPr>
          <a:xfrm>
            <a:off x="6492240" y="1234440"/>
            <a:ext cx="2194560" cy="11704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3" name="Entity header DiningTable"/>
          <p:cNvSpPr/>
          <p:nvPr/>
        </p:nvSpPr>
        <p:spPr>
          <a:xfrm>
            <a:off x="6492240" y="1234440"/>
            <a:ext cx="2194560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DiningTable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01968" y="1554480"/>
            <a:ext cx="1975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table_id (PK)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table_no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capacity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status</a:t>
            </a:r>
            <a:endParaRPr lang="en-US" sz="1100" dirty="0"/>
          </a:p>
        </p:txBody>
      </p:sp>
      <p:sp>
        <p:nvSpPr>
          <p:cNvPr id="16" name="Entity FoodOrder"/>
          <p:cNvSpPr/>
          <p:nvPr/>
        </p:nvSpPr>
        <p:spPr>
          <a:xfrm>
            <a:off x="3474720" y="3383280"/>
            <a:ext cx="219456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7" name="Entity header FoodOrder"/>
          <p:cNvSpPr/>
          <p:nvPr/>
        </p:nvSpPr>
        <p:spPr>
          <a:xfrm>
            <a:off x="3474720" y="3383280"/>
            <a:ext cx="2194560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47472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FoodOrder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584448" y="370332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order_id (PK)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reservation_id (FK)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item_id (FK)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quantity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order_time</a:t>
            </a:r>
            <a:endParaRPr lang="en-US" sz="1100" dirty="0"/>
          </a:p>
        </p:txBody>
      </p:sp>
      <p:sp>
        <p:nvSpPr>
          <p:cNvPr id="20" name="Entity MenuItem"/>
          <p:cNvSpPr/>
          <p:nvPr/>
        </p:nvSpPr>
        <p:spPr>
          <a:xfrm>
            <a:off x="6492240" y="3383280"/>
            <a:ext cx="219456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1" name="Entity header MenuItem"/>
          <p:cNvSpPr/>
          <p:nvPr/>
        </p:nvSpPr>
        <p:spPr>
          <a:xfrm>
            <a:off x="6492240" y="3383280"/>
            <a:ext cx="2194560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9224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MenuItem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370332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item_id (PK)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item_name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category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price</a:t>
            </a:r>
            <a:endParaRPr lang="en-US" sz="1100" dirty="0"/>
          </a:p>
          <a:p>
            <a:pPr marL="0" indent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is_available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651760" y="1783080"/>
            <a:ext cx="8229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697480" y="1554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3246120" y="1554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669280" y="1783080"/>
            <a:ext cx="8229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742432" y="1554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291072" y="1554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0" y="3008376"/>
            <a:ext cx="0" cy="37490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45152" y="3026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4645152" y="31821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669280" y="3931920"/>
            <a:ext cx="8229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742432" y="3703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291072" y="3703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36" name="Card"/>
          <p:cNvSpPr/>
          <p:nvPr/>
        </p:nvSpPr>
        <p:spPr>
          <a:xfrm>
            <a:off x="457200" y="3383280"/>
            <a:ext cx="274320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40080" y="3493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Relationships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376732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1 : N Reservation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DiningTable 1 : N Reservation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Reservation 1 : N FoodOrder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MenuItem 1 : N FoodOrder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Relational schema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Foreign keys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customer_id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Guest contact details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DiningTable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table_id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Tables with capacity and status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Reservation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reservation_id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customer_id, table_id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Booking for a date, time and party size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MenuItem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item_id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Dishes with category, price, availability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FoodOrder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order_id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reservation_id, item_id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One row per dish ordered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Review 2 will normalize this schema and extend it to ten tables.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workflow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RESERVATION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4630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6" name="Number badge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0116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Guest details recorded</a:t>
            </a:r>
            <a:endParaRPr lang="en-US" sz="1300" dirty="0"/>
          </a:p>
        </p:txBody>
      </p:sp>
      <p:pic>
        <p:nvPicPr>
          <p:cNvPr id="9" name="Image 0" descr="Next step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292" y="1901952"/>
            <a:ext cx="201168" cy="201168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2587752" y="14630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1" name="Number badge"/>
          <p:cNvSpPr/>
          <p:nvPr/>
        </p:nvSpPr>
        <p:spPr>
          <a:xfrm>
            <a:off x="2697480" y="15727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69748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0116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Free table of right size found</a:t>
            </a:r>
            <a:endParaRPr lang="en-US" sz="1300" dirty="0"/>
          </a:p>
        </p:txBody>
      </p:sp>
      <p:pic>
        <p:nvPicPr>
          <p:cNvPr id="14" name="Image 1" descr="Next step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844" y="1901952"/>
            <a:ext cx="201168" cy="201168"/>
          </a:xfrm>
          <a:prstGeom prst="rect">
            <a:avLst/>
          </a:prstGeom>
        </p:spPr>
      </p:pic>
      <p:sp>
        <p:nvSpPr>
          <p:cNvPr id="15" name="Card"/>
          <p:cNvSpPr/>
          <p:nvPr/>
        </p:nvSpPr>
        <p:spPr>
          <a:xfrm>
            <a:off x="4718304" y="14630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6" name="Number badge"/>
          <p:cNvSpPr/>
          <p:nvPr/>
        </p:nvSpPr>
        <p:spPr>
          <a:xfrm>
            <a:off x="4828032" y="15727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828032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28032" y="20116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Reservation saved, table held</a:t>
            </a:r>
            <a:endParaRPr lang="en-US" sz="1300" dirty="0"/>
          </a:p>
        </p:txBody>
      </p:sp>
      <p:pic>
        <p:nvPicPr>
          <p:cNvPr id="19" name="Image 2" descr="Next step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1901952"/>
            <a:ext cx="201168" cy="201168"/>
          </a:xfrm>
          <a:prstGeom prst="rect">
            <a:avLst/>
          </a:prstGeom>
        </p:spPr>
      </p:pic>
      <p:sp>
        <p:nvSpPr>
          <p:cNvPr id="20" name="Card"/>
          <p:cNvSpPr/>
          <p:nvPr/>
        </p:nvSpPr>
        <p:spPr>
          <a:xfrm>
            <a:off x="6848856" y="14630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1" name="Number badge"/>
          <p:cNvSpPr/>
          <p:nvPr/>
        </p:nvSpPr>
        <p:spPr>
          <a:xfrm>
            <a:off x="6958584" y="15727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958584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958584" y="20116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Guest arrives, table OCCUPIED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ORDER AND BILL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457200" y="30632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6" name="Number badge"/>
          <p:cNvSpPr/>
          <p:nvPr/>
        </p:nvSpPr>
        <p:spPr>
          <a:xfrm>
            <a:off x="566928" y="31729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566928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566928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Dishes ordered for the table</a:t>
            </a:r>
            <a:endParaRPr lang="en-US" sz="1300" dirty="0"/>
          </a:p>
        </p:txBody>
      </p:sp>
      <p:pic>
        <p:nvPicPr>
          <p:cNvPr id="29" name="Image 3" descr="Next step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292" y="3502152"/>
            <a:ext cx="201168" cy="201168"/>
          </a:xfrm>
          <a:prstGeom prst="rect">
            <a:avLst/>
          </a:prstGeom>
        </p:spPr>
      </p:pic>
      <p:sp>
        <p:nvSpPr>
          <p:cNvPr id="30" name="Card"/>
          <p:cNvSpPr/>
          <p:nvPr/>
        </p:nvSpPr>
        <p:spPr>
          <a:xfrm>
            <a:off x="2587752" y="30632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1" name="Number badge"/>
          <p:cNvSpPr/>
          <p:nvPr/>
        </p:nvSpPr>
        <p:spPr>
          <a:xfrm>
            <a:off x="2697480" y="31729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269748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2697480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Order rows stored with quantity</a:t>
            </a:r>
            <a:endParaRPr lang="en-US" sz="1300" dirty="0"/>
          </a:p>
        </p:txBody>
      </p:sp>
      <p:pic>
        <p:nvPicPr>
          <p:cNvPr id="34" name="Image 4" descr="Next step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844" y="3502152"/>
            <a:ext cx="201168" cy="201168"/>
          </a:xfrm>
          <a:prstGeom prst="rect">
            <a:avLst/>
          </a:prstGeom>
        </p:spPr>
      </p:pic>
      <p:sp>
        <p:nvSpPr>
          <p:cNvPr id="35" name="Card"/>
          <p:cNvSpPr/>
          <p:nvPr/>
        </p:nvSpPr>
        <p:spPr>
          <a:xfrm>
            <a:off x="4718304" y="30632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6" name="Number badge"/>
          <p:cNvSpPr/>
          <p:nvPr/>
        </p:nvSpPr>
        <p:spPr>
          <a:xfrm>
            <a:off x="4828032" y="31729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4828032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7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4828032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Bill total computed from prices</a:t>
            </a:r>
            <a:endParaRPr lang="en-US" sz="1300" dirty="0"/>
          </a:p>
        </p:txBody>
      </p:sp>
      <p:pic>
        <p:nvPicPr>
          <p:cNvPr id="39" name="Image 5" descr="Next step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3502152"/>
            <a:ext cx="201168" cy="201168"/>
          </a:xfrm>
          <a:prstGeom prst="rect">
            <a:avLst/>
          </a:prstGeom>
        </p:spPr>
      </p:pic>
      <p:sp>
        <p:nvSpPr>
          <p:cNvPr id="40" name="Card"/>
          <p:cNvSpPr/>
          <p:nvPr/>
        </p:nvSpPr>
        <p:spPr>
          <a:xfrm>
            <a:off x="6848856" y="30632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41" name="Number badge"/>
          <p:cNvSpPr/>
          <p:nvPr/>
        </p:nvSpPr>
        <p:spPr>
          <a:xfrm>
            <a:off x="6958584" y="31729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6958584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8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6958584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Table marked AVAILABLE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Tools and technology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37160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Databas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RDBMS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880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MySQL 8 stores all restaurant data.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2560320" y="137160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278892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Cod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17830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8892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SQL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2788920" y="2880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DDL, queries, procedures and triggers.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663440" y="137160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48920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Deskto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7830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9204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 end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892040" y="2880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Simple forms (Python or Java) for booking and ordering.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766560" y="137160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699516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ojectDiagram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17830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9516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Design tools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995160" y="2880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MySQL Workbench or draw.io for ER diagrams.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Design stays independent of the front end: all rules will live in the database.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Summary and next steps</a:t>
            </a:r>
            <a:endParaRPr lang="en-US" sz="3000" dirty="0"/>
          </a:p>
        </p:txBody>
      </p:sp>
      <p:sp>
        <p:nvSpPr>
          <p:cNvPr id="4" name="Icon circle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Problem statement and objectives defined</a:t>
            </a:r>
            <a:endParaRPr lang="en-US" sz="1800" dirty="0"/>
          </a:p>
        </p:txBody>
      </p:sp>
      <p:sp>
        <p:nvSpPr>
          <p:cNvPr id="7" name="Icon circle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171700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20574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Requirements and service workflow documented</a:t>
            </a:r>
            <a:endParaRPr lang="en-US" sz="1800" dirty="0"/>
          </a:p>
        </p:txBody>
      </p:sp>
      <p:sp>
        <p:nvSpPr>
          <p:cNvPr id="10" name="Icon circle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81178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2697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ER diagram and five-table schema designed</a:t>
            </a:r>
            <a:endParaRPr lang="en-US" sz="1800" dirty="0"/>
          </a:p>
        </p:txBody>
      </p:sp>
      <p:sp>
        <p:nvSpPr>
          <p:cNvPr id="13" name="Next card"/>
          <p:cNvSpPr/>
          <p:nvPr/>
        </p:nvSpPr>
        <p:spPr>
          <a:xfrm>
            <a:off x="640080" y="3429000"/>
            <a:ext cx="786384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Next: Review 2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Normalization, ten-table schema, time-slot reservations, orders and billing logic, triggers and test cases.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Slate">
  <a:themeElements>
    <a:clrScheme name="Clean Slate">
      <a:dk1>
        <a:srgbClr val="1E293B"/>
      </a:dk1>
      <a:lt1>
        <a:srgbClr val="FFFFFF"/>
      </a:lt1>
      <a:dk2>
        <a:srgbClr val="0F2A43"/>
      </a:dk2>
      <a:lt2>
        <a:srgbClr val="F1F5F9"/>
      </a:lt2>
      <a:accent1>
        <a:srgbClr val="4FB3A9"/>
      </a:accent1>
      <a:accent2>
        <a:srgbClr val="2E8B6A"/>
      </a:accent2>
      <a:accent3>
        <a:srgbClr val="1E3A5F"/>
      </a:accent3>
      <a:accent4>
        <a:srgbClr val="C2410C"/>
      </a:accent4>
      <a:accent5>
        <a:srgbClr val="64748B"/>
      </a:accent5>
      <a:accent6>
        <a:srgbClr val="94A3B8"/>
      </a:accent6>
      <a:hlink>
        <a:srgbClr val="1E3A5F"/>
      </a:hlink>
      <a:folHlink>
        <a:srgbClr val="64748B"/>
      </a:folHlink>
    </a:clrScheme>
    <a:fontScheme name="Clean Sla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</Words>
  <Application>Microsoft Office PowerPoint</Application>
  <PresentationFormat>On-screen Show (16:9)</PresentationFormat>
  <Paragraphs>197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Restaurant Service</vt:lpstr>
      <vt:lpstr>Design and Implementation of a Database Management System for Restaurant Table Reservation and Food Service Management System</vt:lpstr>
      <vt:lpstr>Why a restaurant needs a database</vt:lpstr>
      <vt:lpstr>Problem statement and objectives</vt:lpstr>
      <vt:lpstr>Existing system vs proposed system</vt:lpstr>
      <vt:lpstr>Scope and review roadmap</vt:lpstr>
      <vt:lpstr>Functional requirements</vt:lpstr>
      <vt:lpstr>Conceptual design: ER diagram</vt:lpstr>
      <vt:lpstr>Relational schema</vt:lpstr>
      <vt:lpstr>System workflow</vt:lpstr>
      <vt:lpstr>Tools and technology</vt:lpstr>
      <vt:lpstr>Summary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DBMS - Review 1</dc:title>
  <dc:subject>PptxGenJS Presentation</dc:subject>
  <dc:creator>PptxGenJS</dc:creator>
  <cp:lastModifiedBy>Sanjith Jannepally</cp:lastModifiedBy>
  <cp:revision>2</cp:revision>
  <dcterms:created xsi:type="dcterms:W3CDTF">2026-10-14T21:32:29Z</dcterms:created>
  <dcterms:modified xsi:type="dcterms:W3CDTF">2026-10-14T21:39:53Z</dcterms:modified>
</cp:coreProperties>
</file>