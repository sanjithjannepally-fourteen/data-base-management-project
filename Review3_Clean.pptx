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: Final system" id="{638d2788-098e-3b1e-193e-006fe6158ec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+mn-lt"/>
              </a:rPr>
              <a:t>Top dishes by orders (sample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4FB3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Biryani</c:v>
                  </c:pt>
                  <c:pt idx="1">
                    <c:v>Paneer Tikka</c:v>
                  </c:pt>
                  <c:pt idx="2">
                    <c:v>Masala Dosa</c:v>
                  </c:pt>
                  <c:pt idx="3">
                    <c:v>Fried Rice</c:v>
                  </c:pt>
                  <c:pt idx="4">
                    <c:v>Mango Lassi</c:v>
                  </c:pt>
                  <c:pt idx="5">
                    <c:v>Gulab Jamun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</c:v>
                </c:pt>
                <c:pt idx="1">
                  <c:v>52</c:v>
                </c:pt>
                <c:pt idx="2">
                  <c:v>47</c:v>
                </c:pt>
                <c:pt idx="3">
                  <c:v>38</c:v>
                </c:pt>
                <c:pt idx="4">
                  <c:v>33</c:v>
                </c:pt>
                <c:pt idx="5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review: the complete system with waiting list, inventory, concurrency control, security, reports and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review adds capability on top of the previous one. Review 3 makes the system production-ready.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interact through simple forms. All rules sit inside the DBMS. Ingredient stock is updated automatically from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Tables grouped by module. Asterisk marks tables added in Review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features added in the final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staff members must never reserve the same table for the same slot. FOR UPDATE makes the second request wait for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overlap check filters on table and slot, so a composite index avoids full table scans. Views give ready-made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with least privilege, an audit trigger on sensitive tables, and regular backups.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uses sample data to show the kind of report the dashboard produces. Replace with your own seeded data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Scenarios that prove the Review 3 features. Run each one live or show the recorded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these five steps on a pre-loaded sample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view of how the project grew.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achievements, then mention how the system could be extended.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6012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Restaurant DBMS  |  Review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Database Management System – PBL  |  Review 3</a:t>
            </a:r>
            <a:endParaRPr lang="en-US" sz="1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System for Restaurant Table Reservation and Food Service Management</a:t>
            </a:r>
            <a:endParaRPr lang="en-US" sz="4000" dirty="0"/>
          </a:p>
        </p:txBody>
      </p:sp>
      <p:sp>
        <p:nvSpPr>
          <p:cNvPr id="9" name="Icon circle"/>
          <p:cNvSpPr/>
          <p:nvPr/>
        </p:nvSpPr>
        <p:spPr>
          <a:xfrm>
            <a:off x="6949440" y="32461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Utensil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3634740"/>
            <a:ext cx="777240" cy="777240"/>
          </a:xfrm>
          <a:prstGeom prst="rect">
            <a:avLst/>
          </a:prstGeom>
        </p:spPr>
      </p:pic>
      <p:sp>
        <p:nvSpPr>
          <p:cNvPr id="11" name="Icon circle"/>
          <p:cNvSpPr/>
          <p:nvPr/>
        </p:nvSpPr>
        <p:spPr>
          <a:xfrm>
            <a:off x="6400800" y="4069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ConciergeBel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4240530"/>
            <a:ext cx="342900" cy="342900"/>
          </a:xfrm>
          <a:prstGeom prst="rect">
            <a:avLst/>
          </a:prstGeom>
        </p:spPr>
      </p:pic>
      <p:sp>
        <p:nvSpPr>
          <p:cNvPr id="14" name="Text 1"/>
          <p:cNvSpPr/>
          <p:nvPr>
            <p:ph idx="102" type="body" hasCustomPrompt="1"/>
          </p:nvPr>
        </p:nvSpPr>
        <p:spPr>
          <a:xfrm>
            <a:off x="640080" y="30632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Journey so far: three reviews</a:t>
            </a:r>
            <a:endParaRPr lang="en-US" sz="3000" dirty="0"/>
          </a:p>
        </p:txBody>
      </p:sp>
      <p:sp>
        <p:nvSpPr>
          <p:cNvPr id="4" name="Review header"/>
          <p:cNvSpPr/>
          <p:nvPr/>
        </p:nvSpPr>
        <p:spPr>
          <a:xfrm>
            <a:off x="45720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1  ·  5 tables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9659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 design and schema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 reservation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Orders and basic bill</a:t>
            </a:r>
            <a:endParaRPr lang="en-US" sz="1400" dirty="0"/>
          </a:p>
        </p:txBody>
      </p:sp>
      <p:pic>
        <p:nvPicPr>
          <p:cNvPr id="8" name="Image 0" descr="Progress ar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096" y="2697480"/>
            <a:ext cx="201168" cy="201168"/>
          </a:xfrm>
          <a:prstGeom prst="rect">
            <a:avLst/>
          </a:prstGeom>
        </p:spPr>
      </p:pic>
      <p:sp>
        <p:nvSpPr>
          <p:cNvPr id="9" name="Review header"/>
          <p:cNvSpPr/>
          <p:nvPr/>
        </p:nvSpPr>
        <p:spPr>
          <a:xfrm>
            <a:off x="329184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29184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Review 2  ·  10 tables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3291840" y="19659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52044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Normalized to 3NF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Slot-based reservation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GST, service charge, payments</a:t>
            </a:r>
            <a:endParaRPr lang="en-US" sz="1400" dirty="0"/>
          </a:p>
        </p:txBody>
      </p:sp>
      <p:pic>
        <p:nvPicPr>
          <p:cNvPr id="13" name="Image 1" descr="Progress 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2697480"/>
            <a:ext cx="201168" cy="201168"/>
          </a:xfrm>
          <a:prstGeom prst="rect">
            <a:avLst/>
          </a:prstGeom>
        </p:spPr>
      </p:pic>
      <p:sp>
        <p:nvSpPr>
          <p:cNvPr id="14" name="Review header"/>
          <p:cNvSpPr/>
          <p:nvPr/>
        </p:nvSpPr>
        <p:spPr>
          <a:xfrm>
            <a:off x="6126480" y="1280160"/>
            <a:ext cx="25603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12648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3  ·  16 tables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6126480" y="196596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355080" y="214884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Waiting list, coupons, inventory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Concurrency-safe, with roles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Feedback, audit, reports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review keeps everything from the one before and adds to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Final system architecture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3774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8580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61163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Waiter and chef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Manager</a:t>
            </a:r>
            <a:endParaRPr lang="en-US" sz="1400" dirty="0"/>
          </a:p>
        </p:txBody>
      </p:sp>
      <p:pic>
        <p:nvPicPr>
          <p:cNvPr id="9" name="Image 1" descr="Data flow 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240280"/>
            <a:ext cx="329184" cy="329184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3383280" y="1280160"/>
            <a:ext cx="23774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61188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Deskto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470" y="1611630"/>
            <a:ext cx="297180" cy="2971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34340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361188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Reservation screen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and kitchen screen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Billing and reports</a:t>
            </a:r>
            <a:endParaRPr lang="en-US" sz="1400" dirty="0"/>
          </a:p>
        </p:txBody>
      </p:sp>
      <p:pic>
        <p:nvPicPr>
          <p:cNvPr id="15" name="Image 3" descr="Data flow 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240280"/>
            <a:ext cx="329184" cy="329184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6309360" y="1280160"/>
            <a:ext cx="237744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6537960" y="14630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4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1611630"/>
            <a:ext cx="297180" cy="29718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269480" y="1463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DBMS layer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6537960" y="22860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16 tables in 3NF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Procedures, triggers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Views, indexes, roles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6309360" y="3749040"/>
            <a:ext cx="237744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6446520" y="3749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Stock updates from each order</a:t>
            </a:r>
            <a:endParaRPr lang="en-US" sz="1300" dirty="0"/>
          </a:p>
        </p:txBody>
      </p:sp>
      <p:pic>
        <p:nvPicPr>
          <p:cNvPr id="23" name="Image 5" descr="Stock feed 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493008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57200" y="3749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Every client gets the same behaviour because the rules live in the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Final schema: 16 tables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554480" cy="28346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594360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hai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5905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Guests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Who dines where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7432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Customer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DiningTable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Reservation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WaitList*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2125980" y="1280160"/>
            <a:ext cx="1554480" cy="28346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2263140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Utensil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55905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6314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Menu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26314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What we serve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2263140" y="27432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MenuCategory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MenuItem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Ingredient*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RecipeItem*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3794760" y="1280160"/>
            <a:ext cx="1554480" cy="28346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3931920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ClipboardLi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155905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93192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Orders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393192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What was ordered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3931920" y="27432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Orders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OrderItem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Feedback*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5463540" y="1280160"/>
            <a:ext cx="1554480" cy="28346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3" name="Icon circle"/>
          <p:cNvSpPr/>
          <p:nvPr/>
        </p:nvSpPr>
        <p:spPr>
          <a:xfrm>
            <a:off x="5600700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FileInvoiceDolla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55905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0070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Billing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60070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Money and offers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5600700" y="27432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Bill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Payment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Coupon*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7132320" y="1280160"/>
            <a:ext cx="1554480" cy="283464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7269480" y="14447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UserShiel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55905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69480" y="20116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Platform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26948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Who did what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7269480" y="27432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Staff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AuditLog*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16 tables  ·  * added in Review 3  ·  all in 3NF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Advanced features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istO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53162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Waiting list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Walk-in guests queue when no table is free.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Tag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53162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690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Coupons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valid coupon reduces the bill total.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Box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31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Inventory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2057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Ordering a dish reduces ingredient stock via its recipe.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ConciergeBel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Kitchen flow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Orders move PLACED, PREPARING, READY, SERVED.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329184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5" name="Icon circle"/>
          <p:cNvSpPr/>
          <p:nvPr/>
        </p:nvSpPr>
        <p:spPr>
          <a:xfrm>
            <a:off x="347472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Sta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17754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06908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Feedback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47472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Guests rate dishes and service after paying.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6126480" y="292608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30" name="Icon circle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UserShiel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17754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0372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Role-based access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309360" y="37033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Manager, waiter and chef see only what they need.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Transactions and concurrency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8404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887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staff see the last table as free and both reserve it: a double booking.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788920"/>
            <a:ext cx="38404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fix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31012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 transaction: all or nothing (ACID)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 UPDATE makes the second booking wait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unique key on table and slot is the safety net</a:t>
            </a:r>
            <a:endParaRPr lang="en-US" sz="1300" dirty="0"/>
          </a:p>
        </p:txBody>
      </p:sp>
      <p:sp>
        <p:nvSpPr>
          <p:cNvPr id="12" name="Code card"/>
          <p:cNvSpPr/>
          <p:nvPr/>
        </p:nvSpPr>
        <p:spPr>
          <a:xfrm>
            <a:off x="4526280" y="1280160"/>
            <a:ext cx="4160520" cy="3246120"/>
          </a:xfrm>
          <a:prstGeom prst="roundRect">
            <a:avLst>
              <a:gd name="adj" fmla="val 2817"/>
            </a:avLst>
          </a:prstGeom>
          <a:solidFill>
            <a:schemeClr val="tx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709160" y="1417320"/>
            <a:ext cx="3794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table_id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DiningTable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capacity &gt;= 4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capacity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re-check overlap, then insert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Reservation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(customer_id, table_id, slot_start, ...)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(?, ?, ?, ...);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Indexes and views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Tachometer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54305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Indexes</a:t>
            </a:r>
            <a:endParaRPr lang="en-US" sz="1800" dirty="0"/>
          </a:p>
        </p:txBody>
      </p:sp>
      <p:sp>
        <p:nvSpPr>
          <p:cNvPr id="8" name="Code card"/>
          <p:cNvSpPr/>
          <p:nvPr/>
        </p:nvSpPr>
        <p:spPr>
          <a:xfrm>
            <a:off x="640080" y="2103120"/>
            <a:ext cx="3657600" cy="1600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224028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idx_res_table_slot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Reservation (table_id, slot_start);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idx_order_status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Orders (status);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idx_item_category</a:t>
            </a:r>
            <a:endParaRPr lang="en-US" sz="1050" dirty="0"/>
          </a:p>
          <a:p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ts val="139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MenuItem (category_id);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Why: faster overlap checks and faster kitchen-queue lookups.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484632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5430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417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Views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vw_free_tables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Tables with no current reservation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vw_kitchen_queue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orders waiting for the chef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vw_daily_revenue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Revenue grouped by day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Security and integrity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Allowed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Restricted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All tables, menu prices and staff accounts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No restriction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waiter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Reservations, orders and bills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Cannot change prices or delete records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chef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Read orders, update kitchen 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Cannot see bills or payments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457200" y="34290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User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737610"/>
            <a:ext cx="251460" cy="2514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016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Role-based access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128016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GRANT limits each role.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91840" y="34290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1" name="Icon circle"/>
          <p:cNvSpPr/>
          <p:nvPr/>
        </p:nvSpPr>
        <p:spPr>
          <a:xfrm>
            <a:off x="347472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ClipboardLi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3737610"/>
            <a:ext cx="251460" cy="2514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1148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411480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Triggers log changes to Bill, Payment, MenuItem.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126480" y="3429000"/>
            <a:ext cx="25603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/>
        </p:spPr>
      </p:sp>
      <p:sp>
        <p:nvSpPr>
          <p:cNvPr id="16" name="Icon circle"/>
          <p:cNvSpPr/>
          <p:nvPr/>
        </p:nvSpPr>
        <p:spPr>
          <a:xfrm>
            <a:off x="630936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Sav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3737610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94944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Backups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694944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Scheduled dumps protect the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Reports and analytics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6126480" y="1280160"/>
            <a:ext cx="2560320" cy="320040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35508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 provided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19659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Top-selling dishes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Daily revenue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 reservation hours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Low-stock ingredients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 the final system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Two staff reserve the last table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One succeeds; the other is refused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Guest arrives when all tables are full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Guest is added to the waiting list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dish is ordered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Ingredient stock reduced by its recipe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valid coupon is applied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Bill total is reduced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Chef tries to open a bill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Denied by role permissions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 bill amount is edited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Change is recorded in AuditLog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 walkthrough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457200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5" name="Number badge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Register guest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Customer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2139696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0" name="Number badge"/>
          <p:cNvSpPr/>
          <p:nvPr/>
        </p:nvSpPr>
        <p:spPr>
          <a:xfrm>
            <a:off x="2322576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2257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322576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Reserve table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22576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sp_reserve_table</a:t>
            </a:r>
            <a:endParaRPr lang="en-US" sz="1000" dirty="0"/>
          </a:p>
        </p:txBody>
      </p:sp>
      <p:sp>
        <p:nvSpPr>
          <p:cNvPr id="14" name="Card"/>
          <p:cNvSpPr/>
          <p:nvPr/>
        </p:nvSpPr>
        <p:spPr>
          <a:xfrm>
            <a:off x="3822192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15" name="Number badge"/>
          <p:cNvSpPr/>
          <p:nvPr/>
        </p:nvSpPr>
        <p:spPr>
          <a:xfrm>
            <a:off x="4005072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00507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005072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Take order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005072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sp_place_order</a:t>
            </a:r>
            <a:endParaRPr lang="en-US" sz="1000" dirty="0"/>
          </a:p>
        </p:txBody>
      </p:sp>
      <p:sp>
        <p:nvSpPr>
          <p:cNvPr id="19" name="Card"/>
          <p:cNvSpPr/>
          <p:nvPr/>
        </p:nvSpPr>
        <p:spPr>
          <a:xfrm>
            <a:off x="5504688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0" name="Number badge"/>
          <p:cNvSpPr/>
          <p:nvPr/>
        </p:nvSpPr>
        <p:spPr>
          <a:xfrm>
            <a:off x="568756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875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687568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Bill and pay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87568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sp_generate_bill</a:t>
            </a:r>
            <a:endParaRPr lang="en-US" sz="1000" dirty="0"/>
          </a:p>
        </p:txBody>
      </p:sp>
      <p:sp>
        <p:nvSpPr>
          <p:cNvPr id="24" name="Card"/>
          <p:cNvSpPr/>
          <p:nvPr/>
        </p:nvSpPr>
        <p:spPr>
          <a:xfrm>
            <a:off x="7187184" y="1463040"/>
            <a:ext cx="1499616" cy="219456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</p:spPr>
      </p:sp>
      <p:sp>
        <p:nvSpPr>
          <p:cNvPr id="25" name="Number badge"/>
          <p:cNvSpPr/>
          <p:nvPr/>
        </p:nvSpPr>
        <p:spPr>
          <a:xfrm>
            <a:off x="7370064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7006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370064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 reports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70064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vw_daily_revenue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step calls a database object built in Review 2 or Review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Review 1 vs 2 vs 3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46888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 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 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Tables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Design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ER and basic schema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3NF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3NF with indexes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Reservation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Free table for a date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Time slots, best-fit table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Concurrency-safe, waiting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One dish per row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Orders with dish rows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Kitchen flow, inventory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Billing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Sum of prices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GST, service charge, payments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Coupons and discounts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Security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Constraints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Roles and audit log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Reports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Basic queries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Views and analytics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scope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relational database now automates table reservation, ordering and billing, enforces rules with constraints, procedures and triggers, prevents double booking with transactions, tracks stock, and reports usage through views.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82880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Mobile app with online booking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QR-code menu and table ordering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Online payments such as UPI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Multi-branch deployment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Slate">
  <a:themeElements>
    <a:clrScheme name="Clean Slate">
      <a:dk1>
        <a:srgbClr val="1E293B"/>
      </a:dk1>
      <a:lt1>
        <a:srgbClr val="FFFFFF"/>
      </a:lt1>
      <a:dk2>
        <a:srgbClr val="0F2A43"/>
      </a:dk2>
      <a:lt2>
        <a:srgbClr val="F1F5F9"/>
      </a:lt2>
      <a:accent1>
        <a:srgbClr val="4FB3A9"/>
      </a:accent1>
      <a:accent2>
        <a:srgbClr val="2E8B6A"/>
      </a:accent2>
      <a:accent3>
        <a:srgbClr val="1E3A5F"/>
      </a:accent3>
      <a:accent4>
        <a:srgbClr val="C2410C"/>
      </a:accent4>
      <a:accent5>
        <a:srgbClr val="64748B"/>
      </a:accent5>
      <a:accent6>
        <a:srgbClr val="94A3B8"/>
      </a:accent6>
      <a:hlink>
        <a:srgbClr val="1E3A5F"/>
      </a:hlink>
      <a:folHlink>
        <a:srgbClr val="64748B"/>
      </a:folHlink>
    </a:clrScheme>
    <a:fontScheme name="Clean Sla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DBMS - Review 3</dc:title>
  <dc:subject>PptxGenJS Presentation</dc:subject>
  <dc:creator>PptxGenJS</dc:creator>
  <cp:lastModifiedBy>PptxGenJS</cp:lastModifiedBy>
  <cp:revision>1</cp:revision>
  <dcterms:created xsi:type="dcterms:W3CDTF">2026-10-14T21:32:30Z</dcterms:created>
  <dcterms:modified xsi:type="dcterms:W3CDTF">2026-10-14T21:32:30Z</dcterms:modified>
</cp:coreProperties>
</file>